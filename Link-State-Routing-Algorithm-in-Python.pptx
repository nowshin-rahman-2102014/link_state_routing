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25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47287" y="1903572"/>
            <a:ext cx="12824354" cy="1268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950"/>
              </a:lnSpc>
            </a:pPr>
            <a:r>
              <a:rPr lang="en-US" sz="6000" b="1" dirty="0">
                <a:solidFill>
                  <a:schemeClr val="accent2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Link State Routing Algorithm in python</a:t>
            </a:r>
            <a:endParaRPr lang="en-US" sz="6000" dirty="0">
              <a:solidFill>
                <a:schemeClr val="accent2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298008" y="3171468"/>
            <a:ext cx="12824353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 Dynamic Network Simulation with Visual Interactivity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30540" y="5372814"/>
            <a:ext cx="617553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Sadia Homayra Nowshin</a:t>
            </a:r>
          </a:p>
          <a:p>
            <a:pPr>
              <a:lnSpc>
                <a:spcPts val="3550"/>
              </a:lnSpc>
            </a:pP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ID: </a:t>
            </a:r>
            <a:r>
              <a:rPr lang="en-US" sz="2200" dirty="0">
                <a:solidFill>
                  <a:schemeClr val="accent2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2102014</a:t>
            </a:r>
          </a:p>
          <a:p>
            <a:pPr>
              <a:lnSpc>
                <a:spcPts val="3550"/>
              </a:lnSpc>
            </a:pP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Reg. </a:t>
            </a:r>
            <a:r>
              <a:rPr lang="en-US" sz="2200" dirty="0">
                <a:solidFill>
                  <a:schemeClr val="accent2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10141</a:t>
            </a:r>
            <a:endParaRPr lang="en-US" sz="2200" dirty="0">
              <a:solidFill>
                <a:schemeClr val="accent2"/>
              </a:solidFill>
            </a:endParaRPr>
          </a:p>
          <a:p>
            <a:pPr>
              <a:lnSpc>
                <a:spcPts val="3550"/>
              </a:lnSpc>
            </a:pPr>
            <a:endParaRPr lang="en-US" sz="2200" dirty="0"/>
          </a:p>
          <a:p>
            <a:pPr marL="0" indent="0" algn="l">
              <a:lnSpc>
                <a:spcPts val="3550"/>
              </a:lnSpc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12258" y="5372814"/>
            <a:ext cx="6175534" cy="88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Course code:</a:t>
            </a:r>
            <a:r>
              <a:rPr lang="en-US" sz="220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CCE-314</a:t>
            </a:r>
          </a:p>
          <a:p>
            <a:pPr>
              <a:lnSpc>
                <a:spcPts val="3550"/>
              </a:lnSpc>
            </a:pP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Course title: </a:t>
            </a:r>
            <a:r>
              <a:rPr lang="en-US" sz="2200" dirty="0">
                <a:solidFill>
                  <a:schemeClr val="accent2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Computer Networks</a:t>
            </a:r>
            <a:endParaRPr lang="en-US" sz="2200" dirty="0">
              <a:solidFill>
                <a:schemeClr val="accent2"/>
              </a:solidFill>
            </a:endParaRPr>
          </a:p>
          <a:p>
            <a:pPr marL="0" indent="0" algn="l">
              <a:lnSpc>
                <a:spcPts val="35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4473"/>
            <a:ext cx="127581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A44F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Introduction: Navigating Network Dynamics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28543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This presentation introduces our Link State Routing (LSR) simulation in Python, designed to visualize complex network behaviors.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4005143"/>
            <a:ext cx="141684" cy="141684"/>
          </a:xfrm>
          <a:prstGeom prst="roundRect">
            <a:avLst>
              <a:gd name="adj" fmla="val 322690"/>
            </a:avLst>
          </a:prstGeom>
          <a:solidFill>
            <a:srgbClr val="FFA44F"/>
          </a:solidFill>
          <a:ln/>
        </p:spPr>
      </p:sp>
      <p:sp>
        <p:nvSpPr>
          <p:cNvPr id="5" name="Text 3"/>
          <p:cNvSpPr/>
          <p:nvPr/>
        </p:nvSpPr>
        <p:spPr>
          <a:xfrm>
            <a:off x="1218962" y="3854529"/>
            <a:ext cx="3544133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Project Goal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1218962" y="4467582"/>
            <a:ext cx="5919073" cy="226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To build an interactive simulation of the Link State Routing protocol, featuring a graphical user interface, shortest-path visualization, and dynamic handling of link updates.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2365" y="4005143"/>
            <a:ext cx="141684" cy="141684"/>
          </a:xfrm>
          <a:prstGeom prst="roundRect">
            <a:avLst>
              <a:gd name="adj" fmla="val 322690"/>
            </a:avLst>
          </a:prstGeom>
          <a:solidFill>
            <a:srgbClr val="FFA44F"/>
          </a:solidFill>
          <a:ln/>
        </p:spPr>
      </p:sp>
      <p:sp>
        <p:nvSpPr>
          <p:cNvPr id="8" name="Text 6"/>
          <p:cNvSpPr/>
          <p:nvPr/>
        </p:nvSpPr>
        <p:spPr>
          <a:xfrm>
            <a:off x="7917537" y="3854529"/>
            <a:ext cx="3544133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Relevance</a:t>
            </a:r>
            <a:endParaRPr lang="en-US" sz="2750" dirty="0"/>
          </a:p>
        </p:txBody>
      </p:sp>
      <p:sp>
        <p:nvSpPr>
          <p:cNvPr id="9" name="Text 7"/>
          <p:cNvSpPr/>
          <p:nvPr/>
        </p:nvSpPr>
        <p:spPr>
          <a:xfrm>
            <a:off x="7917537" y="4467582"/>
            <a:ext cx="5919073" cy="18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Link State Routing is fundamental to modern internet protocols like OSPF and IS-IS, ensuring efficient and robust data delivery across dynamic networks.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6569"/>
            <a:ext cx="1266253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A44F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 Background Theory: Link State Routing Fundamentals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14717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Link State Routing protocols ensure every router has a complete map of the network, enabling optimal path calculations.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48620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FFA44F"/>
          </a:solidFill>
          <a:ln/>
        </p:spPr>
      </p:sp>
      <p:sp>
        <p:nvSpPr>
          <p:cNvPr id="5" name="Text 3"/>
          <p:cNvSpPr/>
          <p:nvPr/>
        </p:nvSpPr>
        <p:spPr>
          <a:xfrm>
            <a:off x="1133951" y="3128129"/>
            <a:ext cx="35846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Link State Packets (LSPs)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3951" y="3618548"/>
            <a:ext cx="603944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Routers broadcast LSPs containing information about their directly connected links. Each LSP includes a sequence number to prevent the use of outdated information.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56884" y="3248620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FFA44F"/>
          </a:solidFill>
          <a:ln/>
        </p:spPr>
      </p:sp>
      <p:sp>
        <p:nvSpPr>
          <p:cNvPr id="8" name="Text 6"/>
          <p:cNvSpPr/>
          <p:nvPr/>
        </p:nvSpPr>
        <p:spPr>
          <a:xfrm>
            <a:off x="7797046" y="3128129"/>
            <a:ext cx="39000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Link State Database (LSDB)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97046" y="3618548"/>
            <a:ext cx="603956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Each router collects LSPs from all other routers to form a comprehensive topological map of the entire network.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644277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FFA44F"/>
          </a:solidFill>
          <a:ln/>
        </p:spPr>
      </p:sp>
      <p:sp>
        <p:nvSpPr>
          <p:cNvPr id="11" name="Text 9"/>
          <p:cNvSpPr/>
          <p:nvPr/>
        </p:nvSpPr>
        <p:spPr>
          <a:xfrm>
            <a:off x="1133951" y="5523786"/>
            <a:ext cx="28833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Dijkstra's Algorithm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33951" y="6014204"/>
            <a:ext cx="603944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Using the LSDB, each router independently runs Dijkstra's algorithm to compute the shortest path to all other destinations in the network.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56884" y="5644277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FFA44F"/>
          </a:solidFill>
          <a:ln/>
        </p:spPr>
      </p:sp>
      <p:sp>
        <p:nvSpPr>
          <p:cNvPr id="14" name="Text 12"/>
          <p:cNvSpPr/>
          <p:nvPr/>
        </p:nvSpPr>
        <p:spPr>
          <a:xfrm>
            <a:off x="7797046" y="55237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Routing Tables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97046" y="6014204"/>
            <a:ext cx="603956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The results from Dijkstra's algorithm populate the routing table, dictating the next hop for any given destination.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1448"/>
            <a:ext cx="1271813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A44F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System Architecture: Components of the Simulation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2195870"/>
            <a:ext cx="13042821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Our simulation comprises three core modules, each handling a specific aspect of the LSR process and user interaction.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1278136" y="4108847"/>
            <a:ext cx="3614976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550"/>
              </a:lnSpc>
              <a:buNone/>
            </a:pPr>
            <a:r>
              <a:rPr lang="en-US" sz="28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Routers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3790" y="4705231"/>
            <a:ext cx="4099322" cy="1542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1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Individual network nodes maintaining LSDBs, computing routing tables, and exchanging LSPs.</a:t>
            </a:r>
            <a:endParaRPr lang="en-US" sz="1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077" y="3238024"/>
            <a:ext cx="3880128" cy="388012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7034" y="4764167"/>
            <a:ext cx="360521" cy="3605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16678" y="3241119"/>
            <a:ext cx="3614976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Network Simulator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9616678" y="3837503"/>
            <a:ext cx="4219932" cy="115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Manages network topology, floods LSPs, simulates link changes, and tracks convergence.</a:t>
            </a:r>
            <a:endParaRPr lang="en-US" sz="1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5077" y="3238024"/>
            <a:ext cx="3880128" cy="388012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05882" y="3955852"/>
            <a:ext cx="360521" cy="36052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16678" y="5361980"/>
            <a:ext cx="3614976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GUI (Tkinter)</a:t>
            </a:r>
            <a:endParaRPr lang="en-US" sz="2800" dirty="0"/>
          </a:p>
        </p:txBody>
      </p:sp>
      <p:sp>
        <p:nvSpPr>
          <p:cNvPr id="13" name="Text 7"/>
          <p:cNvSpPr/>
          <p:nvPr/>
        </p:nvSpPr>
        <p:spPr>
          <a:xfrm>
            <a:off x="9616678" y="5958364"/>
            <a:ext cx="4219932" cy="115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Provides visual representation of the network, interactive controls, and real-time logs.</a:t>
            </a:r>
            <a:endParaRPr lang="en-US" sz="1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5077" y="3238024"/>
            <a:ext cx="3880128" cy="388012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01545" y="6272927"/>
            <a:ext cx="360521" cy="3605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1194"/>
            <a:ext cx="852297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chemeClr val="accent2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Router Module: The Brains of the Network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874163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Each simulated router acts as an autonomous agent, diligently maintaining its network knowledge and adapting to changes.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3188970"/>
            <a:ext cx="6422231" cy="1781651"/>
          </a:xfrm>
          <a:prstGeom prst="roundRect">
            <a:avLst>
              <a:gd name="adj" fmla="val 6159"/>
            </a:avLst>
          </a:prstGeom>
          <a:solidFill>
            <a:srgbClr val="403234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166110"/>
            <a:ext cx="6422231" cy="91440"/>
          </a:xfrm>
          <a:prstGeom prst="roundRect">
            <a:avLst>
              <a:gd name="adj" fmla="val 32558"/>
            </a:avLst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3707249" y="2891314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CCCCCC"/>
          </a:solidFill>
          <a:ln/>
        </p:spPr>
      </p:sp>
      <p:sp>
        <p:nvSpPr>
          <p:cNvPr id="7" name="Text 5"/>
          <p:cNvSpPr/>
          <p:nvPr/>
        </p:nvSpPr>
        <p:spPr>
          <a:xfrm>
            <a:off x="3885843" y="304014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15008" y="3685103"/>
            <a:ext cx="34134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Link State Database (LSDB)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15008" y="4114324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Stores a complete map of the network topology based on received LSPs from all other routers.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14379" y="3188970"/>
            <a:ext cx="6422231" cy="1781651"/>
          </a:xfrm>
          <a:prstGeom prst="roundRect">
            <a:avLst>
              <a:gd name="adj" fmla="val 6159"/>
            </a:avLst>
          </a:prstGeom>
          <a:solidFill>
            <a:srgbClr val="403234"/>
          </a:solidFill>
          <a:ln/>
        </p:spPr>
      </p:sp>
      <p:sp>
        <p:nvSpPr>
          <p:cNvPr id="11" name="Shape 9"/>
          <p:cNvSpPr/>
          <p:nvPr/>
        </p:nvSpPr>
        <p:spPr>
          <a:xfrm>
            <a:off x="7414379" y="3166110"/>
            <a:ext cx="6422231" cy="91440"/>
          </a:xfrm>
          <a:prstGeom prst="roundRect">
            <a:avLst>
              <a:gd name="adj" fmla="val 32558"/>
            </a:avLst>
          </a:prstGeom>
          <a:solidFill>
            <a:srgbClr val="CCCCC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27838" y="2891314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CCCCCC"/>
          </a:solidFill>
          <a:ln/>
        </p:spPr>
      </p:sp>
      <p:sp>
        <p:nvSpPr>
          <p:cNvPr id="13" name="Text 11"/>
          <p:cNvSpPr/>
          <p:nvPr/>
        </p:nvSpPr>
        <p:spPr>
          <a:xfrm>
            <a:off x="10506432" y="304014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635597" y="36851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Sequence Numbers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635597" y="4114324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Critical for preventing the processing of stale LSPs, ensuring that only the most recent network state is considered.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5466636"/>
            <a:ext cx="6422231" cy="1781651"/>
          </a:xfrm>
          <a:prstGeom prst="roundRect">
            <a:avLst>
              <a:gd name="adj" fmla="val 6159"/>
            </a:avLst>
          </a:prstGeom>
          <a:solidFill>
            <a:srgbClr val="403234"/>
          </a:solidFill>
          <a:ln/>
        </p:spPr>
      </p:sp>
      <p:sp>
        <p:nvSpPr>
          <p:cNvPr id="17" name="Shape 15"/>
          <p:cNvSpPr/>
          <p:nvPr/>
        </p:nvSpPr>
        <p:spPr>
          <a:xfrm>
            <a:off x="793790" y="5443776"/>
            <a:ext cx="6422231" cy="91440"/>
          </a:xfrm>
          <a:prstGeom prst="roundRect">
            <a:avLst>
              <a:gd name="adj" fmla="val 32558"/>
            </a:avLst>
          </a:prstGeom>
          <a:solidFill>
            <a:srgbClr val="CCCCCC"/>
          </a:solidFill>
          <a:ln/>
        </p:spPr>
      </p:sp>
      <p:sp>
        <p:nvSpPr>
          <p:cNvPr id="18" name="Shape 16"/>
          <p:cNvSpPr/>
          <p:nvPr/>
        </p:nvSpPr>
        <p:spPr>
          <a:xfrm>
            <a:off x="3707249" y="516897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CCCCCC"/>
          </a:solidFill>
          <a:ln/>
        </p:spPr>
      </p:sp>
      <p:sp>
        <p:nvSpPr>
          <p:cNvPr id="19" name="Text 17"/>
          <p:cNvSpPr/>
          <p:nvPr/>
        </p:nvSpPr>
        <p:spPr>
          <a:xfrm>
            <a:off x="3885843" y="531780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3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1015008" y="5962769"/>
            <a:ext cx="348924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Routing Table Computation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15008" y="6391989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Utilizes Dijkstra's Algorithm to determine optimal paths to all network destinations.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414379" y="5466636"/>
            <a:ext cx="6422231" cy="1781651"/>
          </a:xfrm>
          <a:prstGeom prst="roundRect">
            <a:avLst>
              <a:gd name="adj" fmla="val 6159"/>
            </a:avLst>
          </a:prstGeom>
          <a:solidFill>
            <a:srgbClr val="403234"/>
          </a:solidFill>
          <a:ln/>
        </p:spPr>
      </p:sp>
      <p:sp>
        <p:nvSpPr>
          <p:cNvPr id="23" name="Shape 21"/>
          <p:cNvSpPr/>
          <p:nvPr/>
        </p:nvSpPr>
        <p:spPr>
          <a:xfrm>
            <a:off x="7414379" y="5443776"/>
            <a:ext cx="6422231" cy="91440"/>
          </a:xfrm>
          <a:prstGeom prst="roundRect">
            <a:avLst>
              <a:gd name="adj" fmla="val 32558"/>
            </a:avLst>
          </a:prstGeom>
          <a:solidFill>
            <a:srgbClr val="CCCCC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27838" y="516897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CCCCCC"/>
          </a:solidFill>
          <a:ln/>
        </p:spPr>
      </p:sp>
      <p:sp>
        <p:nvSpPr>
          <p:cNvPr id="25" name="Text 23"/>
          <p:cNvSpPr/>
          <p:nvPr/>
        </p:nvSpPr>
        <p:spPr>
          <a:xfrm>
            <a:off x="10506432" y="531780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4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7635597" y="596276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LSP Exchange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635597" y="6391989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Routers actively exchange Link State Packets to disseminate network topology information.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693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A44F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Network Simulator: Orchestrating Network Events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11473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The simulator controls the network environment, introducing dynamic elements and monitoring the system's response.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3745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550"/>
              </a:lnSpc>
              <a:buSzPct val="100000"/>
              <a:buChar char="•"/>
            </a:pPr>
            <a:r>
              <a:rPr lang="en-US" sz="220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Topology Management:</a:t>
            </a: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Adds and removes routers and links dynamically.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990148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550"/>
              </a:lnSpc>
              <a:buSzPct val="100000"/>
              <a:buChar char="•"/>
            </a:pPr>
            <a:r>
              <a:rPr lang="en-US" sz="220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LSP Flooding:</a:t>
            </a: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Efficiently propagates Link State Packets across the network until all routers converge.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99634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550"/>
              </a:lnSpc>
              <a:buSzPct val="100000"/>
              <a:buChar char="•"/>
            </a:pPr>
            <a:r>
              <a:rPr lang="en-US" sz="220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Link Cost Changes:</a:t>
            </a: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Simulates variations in link costs to observe how the network adapts.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654903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550"/>
              </a:lnSpc>
              <a:buSzPct val="100000"/>
              <a:buChar char="•"/>
            </a:pPr>
            <a:r>
              <a:rPr lang="en-US" sz="220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Event Logging:</a:t>
            </a: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Records all significant updates and convergence events for analysis.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620" y="755809"/>
            <a:ext cx="11852196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3600" b="1" dirty="0">
                <a:solidFill>
                  <a:schemeClr val="accent2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Graphical User Interface (GUI): Interactive Network Visualization</a:t>
            </a:r>
            <a:endParaRPr lang="en-US" sz="3600" dirty="0">
              <a:solidFill>
                <a:schemeClr val="accent2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19" y="1559719"/>
            <a:ext cx="3463644" cy="20026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9620" y="3476149"/>
            <a:ext cx="421481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Visual Topology Display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69620" y="3940612"/>
            <a:ext cx="4214813" cy="457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Clearly shows network nodes, their interconnections (edges), and active data paths.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674" y="1559719"/>
            <a:ext cx="3463763" cy="20026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07675" y="3476149"/>
            <a:ext cx="4214932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Highlighted Shortest Path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207675" y="3940612"/>
            <a:ext cx="4214932" cy="457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Visually emphasizes the optimal route between any two selected nodes.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5847" y="1559718"/>
            <a:ext cx="3555803" cy="19164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45848" y="3476149"/>
            <a:ext cx="4214932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Routing Table Viewer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645848" y="3940612"/>
            <a:ext cx="4214932" cy="457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Displays the current routing table for any selected router, showing next hops and path costs.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619" y="4755356"/>
            <a:ext cx="3463644" cy="191452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9620" y="6671786"/>
            <a:ext cx="421481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Live Simulation Logs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769620" y="7136249"/>
            <a:ext cx="4214813" cy="457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Provides a real-time stream of network events, including LSP exchanges and convergence notifications.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7674" y="4755355"/>
            <a:ext cx="3240403" cy="200268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07675" y="6671786"/>
            <a:ext cx="4214932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Dynamic Link Cost Panel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5207675" y="7136249"/>
            <a:ext cx="4214932" cy="457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Allows users to modify link costs in real-time and observe immediate network reactions.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075" y="778907"/>
            <a:ext cx="8617863" cy="53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FA44F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Core Algorithms: The Engine of Routing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075" y="1628656"/>
            <a:ext cx="13044249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Underpinning the simulation are fundamental algorithms that manage path finding and network consistency.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03770" y="2207419"/>
            <a:ext cx="22860" cy="5244584"/>
          </a:xfrm>
          <a:prstGeom prst="roundRect">
            <a:avLst>
              <a:gd name="adj" fmla="val 139406"/>
            </a:avLst>
          </a:prstGeom>
          <a:solidFill>
            <a:srgbClr val="E58A35"/>
          </a:solidFill>
          <a:ln/>
        </p:spPr>
      </p:sp>
      <p:sp>
        <p:nvSpPr>
          <p:cNvPr id="5" name="Shape 3"/>
          <p:cNvSpPr/>
          <p:nvPr/>
        </p:nvSpPr>
        <p:spPr>
          <a:xfrm>
            <a:off x="6913245" y="2434947"/>
            <a:ext cx="424815" cy="22860"/>
          </a:xfrm>
          <a:prstGeom prst="roundRect">
            <a:avLst>
              <a:gd name="adj" fmla="val 139406"/>
            </a:avLst>
          </a:prstGeom>
          <a:solidFill>
            <a:srgbClr val="E58A35"/>
          </a:solidFill>
          <a:ln/>
        </p:spPr>
      </p:sp>
      <p:sp>
        <p:nvSpPr>
          <p:cNvPr id="6" name="Shape 4"/>
          <p:cNvSpPr/>
          <p:nvPr/>
        </p:nvSpPr>
        <p:spPr>
          <a:xfrm>
            <a:off x="7235547" y="2366724"/>
            <a:ext cx="159306" cy="159306"/>
          </a:xfrm>
          <a:prstGeom prst="roundRect">
            <a:avLst>
              <a:gd name="adj" fmla="val 286995"/>
            </a:avLst>
          </a:prstGeom>
          <a:solidFill>
            <a:srgbClr val="FFA44F"/>
          </a:solidFill>
          <a:ln/>
        </p:spPr>
      </p:sp>
      <p:sp>
        <p:nvSpPr>
          <p:cNvPr id="7" name="Text 5"/>
          <p:cNvSpPr/>
          <p:nvPr/>
        </p:nvSpPr>
        <p:spPr>
          <a:xfrm>
            <a:off x="3530441" y="2280404"/>
            <a:ext cx="2935010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Dijkstra’s Algorithm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793075" y="2739628"/>
            <a:ext cx="5672376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The cornerstone for calculating the shortest paths from a source router to all other destinations.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292340" y="3709511"/>
            <a:ext cx="424815" cy="22860"/>
          </a:xfrm>
          <a:prstGeom prst="roundRect">
            <a:avLst>
              <a:gd name="adj" fmla="val 139406"/>
            </a:avLst>
          </a:prstGeom>
          <a:solidFill>
            <a:srgbClr val="E58A35"/>
          </a:solidFill>
          <a:ln/>
        </p:spPr>
      </p:sp>
      <p:sp>
        <p:nvSpPr>
          <p:cNvPr id="10" name="Shape 8"/>
          <p:cNvSpPr/>
          <p:nvPr/>
        </p:nvSpPr>
        <p:spPr>
          <a:xfrm>
            <a:off x="7235547" y="3641288"/>
            <a:ext cx="159306" cy="159306"/>
          </a:xfrm>
          <a:prstGeom prst="roundRect">
            <a:avLst>
              <a:gd name="adj" fmla="val 286995"/>
            </a:avLst>
          </a:prstGeom>
          <a:solidFill>
            <a:srgbClr val="FFA44F"/>
          </a:solidFill>
          <a:ln/>
        </p:spPr>
      </p:sp>
      <p:sp>
        <p:nvSpPr>
          <p:cNvPr id="11" name="Text 9"/>
          <p:cNvSpPr/>
          <p:nvPr/>
        </p:nvSpPr>
        <p:spPr>
          <a:xfrm>
            <a:off x="8164949" y="3554968"/>
            <a:ext cx="2835950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Flooding Mechanism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8164949" y="4014192"/>
            <a:ext cx="5672376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Ensures reliable dissemination of LSPs throughout the network to maintain consistent LSDBs.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913245" y="4808220"/>
            <a:ext cx="424815" cy="22860"/>
          </a:xfrm>
          <a:prstGeom prst="roundRect">
            <a:avLst>
              <a:gd name="adj" fmla="val 139406"/>
            </a:avLst>
          </a:prstGeom>
          <a:solidFill>
            <a:srgbClr val="E58A35"/>
          </a:solidFill>
          <a:ln/>
        </p:spPr>
      </p:sp>
      <p:sp>
        <p:nvSpPr>
          <p:cNvPr id="14" name="Shape 12"/>
          <p:cNvSpPr/>
          <p:nvPr/>
        </p:nvSpPr>
        <p:spPr>
          <a:xfrm>
            <a:off x="7235547" y="4739997"/>
            <a:ext cx="159306" cy="159306"/>
          </a:xfrm>
          <a:prstGeom prst="roundRect">
            <a:avLst>
              <a:gd name="adj" fmla="val 286995"/>
            </a:avLst>
          </a:prstGeom>
          <a:solidFill>
            <a:srgbClr val="FFA44F"/>
          </a:solidFill>
          <a:ln/>
        </p:spPr>
      </p:sp>
      <p:sp>
        <p:nvSpPr>
          <p:cNvPr id="15" name="Text 13"/>
          <p:cNvSpPr/>
          <p:nvPr/>
        </p:nvSpPr>
        <p:spPr>
          <a:xfrm>
            <a:off x="3070860" y="4653677"/>
            <a:ext cx="3394591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Full-Path Reconstruction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793075" y="5112901"/>
            <a:ext cx="5672376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Logic to trace and display the complete path taken by data packets based on routing table entries.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292340" y="5906929"/>
            <a:ext cx="424815" cy="22860"/>
          </a:xfrm>
          <a:prstGeom prst="roundRect">
            <a:avLst>
              <a:gd name="adj" fmla="val 139406"/>
            </a:avLst>
          </a:prstGeom>
          <a:solidFill>
            <a:srgbClr val="E58A35"/>
          </a:solidFill>
          <a:ln/>
        </p:spPr>
      </p:sp>
      <p:sp>
        <p:nvSpPr>
          <p:cNvPr id="18" name="Shape 16"/>
          <p:cNvSpPr/>
          <p:nvPr/>
        </p:nvSpPr>
        <p:spPr>
          <a:xfrm>
            <a:off x="7235547" y="5838706"/>
            <a:ext cx="159306" cy="159306"/>
          </a:xfrm>
          <a:prstGeom prst="roundRect">
            <a:avLst>
              <a:gd name="adj" fmla="val 286995"/>
            </a:avLst>
          </a:prstGeom>
          <a:solidFill>
            <a:srgbClr val="FFA44F"/>
          </a:solidFill>
          <a:ln/>
        </p:spPr>
      </p:sp>
      <p:sp>
        <p:nvSpPr>
          <p:cNvPr id="19" name="Text 17"/>
          <p:cNvSpPr/>
          <p:nvPr/>
        </p:nvSpPr>
        <p:spPr>
          <a:xfrm>
            <a:off x="8164949" y="5752386"/>
            <a:ext cx="4283035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Dynamic LSDB Synchronization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8164949" y="6211610"/>
            <a:ext cx="5672376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Mechanisms to keep each router's Link State Database current and synchronized with the latest LSPs.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930" y="762357"/>
            <a:ext cx="8840986" cy="450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3600" b="1" dirty="0">
                <a:solidFill>
                  <a:schemeClr val="accent2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Simulation Workflow: From Setup to Interaction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09255" y="1552099"/>
            <a:ext cx="1307853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The user-driven workflow demonstrates the full capabilities of our LSR simulation.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0" y="2063472"/>
            <a:ext cx="900589" cy="1080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56542" y="2243495"/>
            <a:ext cx="225159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Initialize Network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856542" y="2632829"/>
            <a:ext cx="11997928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Set up routers and define the initial network topology.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30" y="3144203"/>
            <a:ext cx="900589" cy="10807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56542" y="3324225"/>
            <a:ext cx="2579965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Generate &amp; Flood LSPs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856542" y="3713559"/>
            <a:ext cx="11997928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Routers begin exchanging link state information.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930" y="4224933"/>
            <a:ext cx="900589" cy="10807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56542" y="4404955"/>
            <a:ext cx="3734395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Update LSDBs &amp; Compute Tables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1856542" y="4794290"/>
            <a:ext cx="11997928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Each router builds its LSDB and runs Dijkstra to create routing tables.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930" y="5305663"/>
            <a:ext cx="900589" cy="10807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56542" y="5485686"/>
            <a:ext cx="225159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User Interaction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1856542" y="5875020"/>
            <a:ext cx="11997928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Users update link costs, highlight paths, or inspect tables via GUI.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930" y="6386393"/>
            <a:ext cx="900589" cy="108073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856542" y="6566416"/>
            <a:ext cx="2512695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Network Convergence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1856542" y="6955750"/>
            <a:ext cx="11997928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Observe the network adapt and reconverge after changes.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8597"/>
            <a:ext cx="12412623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000" b="1" dirty="0">
                <a:solidFill>
                  <a:schemeClr val="accent2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Conclusion: Enhancing Network Understanding</a:t>
            </a:r>
            <a:endParaRPr lang="en-US" sz="40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79201"/>
            <a:ext cx="13042821" cy="816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Our Link State Routing simulation provides a powerful tool for academic study and practical understanding.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3282553"/>
            <a:ext cx="4177427" cy="2684978"/>
          </a:xfrm>
          <a:prstGeom prst="roundRect">
            <a:avLst>
              <a:gd name="adj" fmla="val 22810"/>
            </a:avLst>
          </a:prstGeom>
          <a:solidFill>
            <a:srgbClr val="5F5153"/>
          </a:solidFill>
          <a:ln/>
        </p:spPr>
      </p:sp>
      <p:sp>
        <p:nvSpPr>
          <p:cNvPr id="5" name="Text 3"/>
          <p:cNvSpPr/>
          <p:nvPr/>
        </p:nvSpPr>
        <p:spPr>
          <a:xfrm>
            <a:off x="1048941" y="3537704"/>
            <a:ext cx="3189684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chemeClr val="accent2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Visual Learning</a:t>
            </a:r>
            <a:endParaRPr lang="en-US" sz="250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48941" y="4089321"/>
            <a:ext cx="3667125" cy="122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Intuitive GUI with path visualization clarifies complex routing concepts.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226368" y="3282553"/>
            <a:ext cx="4177546" cy="2684978"/>
          </a:xfrm>
          <a:prstGeom prst="roundRect">
            <a:avLst>
              <a:gd name="adj" fmla="val 22810"/>
            </a:avLst>
          </a:prstGeom>
          <a:solidFill>
            <a:srgbClr val="5F5153"/>
          </a:solidFill>
          <a:ln/>
        </p:spPr>
      </p:sp>
      <p:sp>
        <p:nvSpPr>
          <p:cNvPr id="8" name="Text 6"/>
          <p:cNvSpPr/>
          <p:nvPr/>
        </p:nvSpPr>
        <p:spPr>
          <a:xfrm>
            <a:off x="5481518" y="3537704"/>
            <a:ext cx="336577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chemeClr val="accent2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Dynamic Interaction</a:t>
            </a:r>
            <a:endParaRPr lang="en-US" sz="2500" dirty="0">
              <a:solidFill>
                <a:schemeClr val="accent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1518" y="4089321"/>
            <a:ext cx="3667244" cy="122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Real-time updates and convergence tracking enhance engagement.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59064" y="3282553"/>
            <a:ext cx="4177427" cy="2684978"/>
          </a:xfrm>
          <a:prstGeom prst="roundRect">
            <a:avLst>
              <a:gd name="adj" fmla="val 22810"/>
            </a:avLst>
          </a:prstGeom>
          <a:solidFill>
            <a:srgbClr val="5F5153"/>
          </a:solidFill>
          <a:ln/>
        </p:spPr>
      </p:sp>
      <p:sp>
        <p:nvSpPr>
          <p:cNvPr id="11" name="Text 9"/>
          <p:cNvSpPr/>
          <p:nvPr/>
        </p:nvSpPr>
        <p:spPr>
          <a:xfrm>
            <a:off x="9914215" y="3537704"/>
            <a:ext cx="3667125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chemeClr val="accent2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Robust Implementation</a:t>
            </a:r>
            <a:endParaRPr lang="en-US" sz="2500" dirty="0">
              <a:solidFill>
                <a:schemeClr val="accent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9914215" y="4487942"/>
            <a:ext cx="3667125" cy="122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Accurate application of Dijkstra's, flooding, and LSDB synchronization.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3790" y="6254591"/>
            <a:ext cx="13042821" cy="816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This project successfully simulates and visualizes the intricate mechanisms of Link State Routing, offering a dynamic and interactive learning experience.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867</Words>
  <Application>Microsoft Office PowerPoint</Application>
  <PresentationFormat>Custom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Noto Serif HK</vt:lpstr>
      <vt:lpstr>Noto Serif HK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sadia nowshin</cp:lastModifiedBy>
  <cp:revision>4</cp:revision>
  <dcterms:created xsi:type="dcterms:W3CDTF">2025-11-23T15:31:42Z</dcterms:created>
  <dcterms:modified xsi:type="dcterms:W3CDTF">2025-11-24T03:24:57Z</dcterms:modified>
</cp:coreProperties>
</file>